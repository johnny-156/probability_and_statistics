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 " initials="" lastIdx="1" clrIdx="0">
    <p:extLst>
      <p:ext uri="{19B8F6BF-5375-455C-9EA6-DF929625EA0E}">
        <p15:presenceInfo xmlns:p15="http://schemas.microsoft.com/office/powerpoint/2012/main" userId="70d86763a33bb02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95" b="1" i="0" u="none" strike="noStrike" kern="1200" cap="all" spc="10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sr-Latn-RS" dirty="0">
                <a:solidFill>
                  <a:schemeClr val="bg1"/>
                </a:solidFill>
              </a:rPr>
              <a:t>N=100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95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1320679876622873E-2"/>
          <c:y val="0.23239783100379763"/>
          <c:w val="0.87526303810574413"/>
          <c:h val="0.673128526704804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Relativna frekvencija</c:v>
                </c:pt>
              </c:strCache>
            </c:strRef>
          </c:tx>
          <c:spPr>
            <a:pattFill prst="ltUpDiag">
              <a:fgClr>
                <a:schemeClr val="accent1"/>
              </a:fgClr>
              <a:bgClr>
                <a:schemeClr val="lt1"/>
              </a:bgClr>
            </a:pattFill>
            <a:ln>
              <a:noFill/>
            </a:ln>
            <a:effectLst/>
          </c:spPr>
          <c:invertIfNegative val="0"/>
          <c:dLbls>
            <c:spPr>
              <a:solidFill>
                <a:schemeClr val="accent1">
                  <a:alpha val="7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Sheet1!$A$2:$A$14</c:f>
              <c:numCache>
                <c:formatCode>General</c:formatCode>
                <c:ptCount val="1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</c:v>
                </c:pt>
                <c:pt idx="1">
                  <c:v>0.01</c:v>
                </c:pt>
                <c:pt idx="2">
                  <c:v>0.04</c:v>
                </c:pt>
                <c:pt idx="3">
                  <c:v>0.16</c:v>
                </c:pt>
                <c:pt idx="4">
                  <c:v>0.37</c:v>
                </c:pt>
                <c:pt idx="5">
                  <c:v>0.2</c:v>
                </c:pt>
                <c:pt idx="6">
                  <c:v>0.13</c:v>
                </c:pt>
                <c:pt idx="7">
                  <c:v>0.04</c:v>
                </c:pt>
                <c:pt idx="8">
                  <c:v>0.04</c:v>
                </c:pt>
                <c:pt idx="9">
                  <c:v>0.01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F7-4379-B195-6E8871FEB42E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69"/>
        <c:overlap val="-20"/>
        <c:axId val="297576616"/>
        <c:axId val="297573664"/>
      </c:barChart>
      <c:catAx>
        <c:axId val="2975766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3175" cap="flat" cmpd="sng" algn="ctr">
            <a:solidFill>
              <a:schemeClr val="accent1">
                <a:lumMod val="60000"/>
                <a:lumOff val="4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5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7573664"/>
        <c:crosses val="autoZero"/>
        <c:auto val="1"/>
        <c:lblAlgn val="ctr"/>
        <c:lblOffset val="100"/>
        <c:noMultiLvlLbl val="0"/>
      </c:catAx>
      <c:valAx>
        <c:axId val="2975736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75766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accent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95" b="1" i="0" u="none" strike="noStrike" kern="1200" cap="all" spc="10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sr-Latn-RS" dirty="0">
                <a:solidFill>
                  <a:schemeClr val="bg1"/>
                </a:solidFill>
              </a:rPr>
              <a:t>Zakon raspodele</a:t>
            </a:r>
            <a:r>
              <a:rPr lang="sr-Latn-RS" baseline="0" dirty="0">
                <a:solidFill>
                  <a:schemeClr val="bg1"/>
                </a:solidFill>
              </a:rPr>
              <a:t> Bin(12,0.4)</a:t>
            </a:r>
            <a:endParaRPr lang="sr-Latn-RS" dirty="0">
              <a:solidFill>
                <a:schemeClr val="bg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95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1320679876622873E-2"/>
          <c:y val="0.23239783100379763"/>
          <c:w val="0.87526303810574413"/>
          <c:h val="0.673128526704804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P(X=k)</c:v>
                </c:pt>
              </c:strCache>
            </c:strRef>
          </c:tx>
          <c:spPr>
            <a:pattFill prst="ltUpDiag">
              <a:fgClr>
                <a:schemeClr val="accent1"/>
              </a:fgClr>
              <a:bgClr>
                <a:schemeClr val="lt1"/>
              </a:bgClr>
            </a:pattFill>
            <a:ln>
              <a:noFill/>
            </a:ln>
            <a:effectLst/>
          </c:spPr>
          <c:invertIfNegative val="0"/>
          <c:dLbls>
            <c:spPr>
              <a:solidFill>
                <a:schemeClr val="accent1">
                  <a:alpha val="7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Sheet1!$A$2:$A$14</c:f>
              <c:numCache>
                <c:formatCode>General</c:formatCode>
                <c:ptCount val="1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2.1767800000000001E-3</c:v>
                </c:pt>
                <c:pt idx="1">
                  <c:v>1.7414300000000001E-2</c:v>
                </c:pt>
                <c:pt idx="2">
                  <c:v>6.3852300000000001E-2</c:v>
                </c:pt>
                <c:pt idx="3">
                  <c:v>0.14189399999999999</c:v>
                </c:pt>
                <c:pt idx="4">
                  <c:v>0.212841</c:v>
                </c:pt>
                <c:pt idx="5">
                  <c:v>0.22703000000000001</c:v>
                </c:pt>
                <c:pt idx="6">
                  <c:v>0.17657900000000001</c:v>
                </c:pt>
                <c:pt idx="7">
                  <c:v>0.10090200000000001</c:v>
                </c:pt>
                <c:pt idx="8">
                  <c:v>4.2042700000000002E-2</c:v>
                </c:pt>
                <c:pt idx="9">
                  <c:v>1.24571E-2</c:v>
                </c:pt>
                <c:pt idx="10">
                  <c:v>2.4914199999999998E-3</c:v>
                </c:pt>
                <c:pt idx="11">
                  <c:v>3.0198999999999997E-4</c:v>
                </c:pt>
                <c:pt idx="12" formatCode="0.00E+00">
                  <c:v>1.6777199999999999E-5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E1-4136-877E-8AE9395E165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69"/>
        <c:overlap val="-20"/>
        <c:axId val="297576616"/>
        <c:axId val="297573664"/>
      </c:barChart>
      <c:catAx>
        <c:axId val="2975766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3175" cap="flat" cmpd="sng" algn="ctr">
            <a:solidFill>
              <a:schemeClr val="accent1">
                <a:lumMod val="60000"/>
                <a:lumOff val="4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5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7573664"/>
        <c:crosses val="autoZero"/>
        <c:auto val="1"/>
        <c:lblAlgn val="ctr"/>
        <c:lblOffset val="100"/>
        <c:noMultiLvlLbl val="0"/>
      </c:catAx>
      <c:valAx>
        <c:axId val="2975736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75766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accent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95" b="1" i="0" u="none" strike="noStrike" kern="1200" cap="all" spc="10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sr-Latn-RS" dirty="0">
                <a:solidFill>
                  <a:schemeClr val="bg1"/>
                </a:solidFill>
              </a:rPr>
              <a:t>N=1000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95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1320679876622873E-2"/>
          <c:y val="0.23239783100379763"/>
          <c:w val="0.87526303810574413"/>
          <c:h val="0.673128526704804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Relativna frekvencija</c:v>
                </c:pt>
              </c:strCache>
            </c:strRef>
          </c:tx>
          <c:spPr>
            <a:pattFill prst="ltUpDiag">
              <a:fgClr>
                <a:schemeClr val="accent1"/>
              </a:fgClr>
              <a:bgClr>
                <a:schemeClr val="lt1"/>
              </a:bgClr>
            </a:pattFill>
            <a:ln>
              <a:noFill/>
            </a:ln>
            <a:effectLst/>
          </c:spPr>
          <c:invertIfNegative val="0"/>
          <c:dLbls>
            <c:spPr>
              <a:solidFill>
                <a:schemeClr val="accent1">
                  <a:alpha val="7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Sheet1!$A$2:$A$14</c:f>
              <c:numCache>
                <c:formatCode>General</c:formatCode>
                <c:ptCount val="1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4.0000000000000001E-3</c:v>
                </c:pt>
                <c:pt idx="1">
                  <c:v>1.2999999999999999E-2</c:v>
                </c:pt>
                <c:pt idx="2">
                  <c:v>6.0999999999999999E-2</c:v>
                </c:pt>
                <c:pt idx="3">
                  <c:v>0.13700000000000001</c:v>
                </c:pt>
                <c:pt idx="4">
                  <c:v>0.21099999999999999</c:v>
                </c:pt>
                <c:pt idx="5">
                  <c:v>0.25</c:v>
                </c:pt>
                <c:pt idx="6">
                  <c:v>0.17</c:v>
                </c:pt>
                <c:pt idx="7">
                  <c:v>9.5000000000000001E-2</c:v>
                </c:pt>
                <c:pt idx="8">
                  <c:v>4.2000000000000003E-2</c:v>
                </c:pt>
                <c:pt idx="9">
                  <c:v>1.4999999999999999E-2</c:v>
                </c:pt>
                <c:pt idx="10">
                  <c:v>2E-3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22-4763-BE4C-867F465FAE6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69"/>
        <c:overlap val="-20"/>
        <c:axId val="297576616"/>
        <c:axId val="297573664"/>
      </c:barChart>
      <c:catAx>
        <c:axId val="2975766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3175" cap="flat" cmpd="sng" algn="ctr">
            <a:solidFill>
              <a:schemeClr val="accent1">
                <a:lumMod val="60000"/>
                <a:lumOff val="4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5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7573664"/>
        <c:crosses val="autoZero"/>
        <c:auto val="1"/>
        <c:lblAlgn val="ctr"/>
        <c:lblOffset val="100"/>
        <c:noMultiLvlLbl val="0"/>
      </c:catAx>
      <c:valAx>
        <c:axId val="2975736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75766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accent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95" b="1" i="0" u="none" strike="noStrike" kern="1200" cap="all" spc="10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sr-Latn-RS" dirty="0">
                <a:solidFill>
                  <a:schemeClr val="bg1"/>
                </a:solidFill>
              </a:rPr>
              <a:t>Zakon raspodele</a:t>
            </a:r>
            <a:r>
              <a:rPr lang="sr-Latn-RS" baseline="0" dirty="0">
                <a:solidFill>
                  <a:schemeClr val="bg1"/>
                </a:solidFill>
              </a:rPr>
              <a:t> Bin(12,0.4)</a:t>
            </a:r>
            <a:endParaRPr lang="sr-Latn-RS" dirty="0">
              <a:solidFill>
                <a:schemeClr val="bg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95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1320679876622873E-2"/>
          <c:y val="0.23239783100379763"/>
          <c:w val="0.87526303810574413"/>
          <c:h val="0.673128526704804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P(X=k)</c:v>
                </c:pt>
              </c:strCache>
            </c:strRef>
          </c:tx>
          <c:spPr>
            <a:pattFill prst="ltUpDiag">
              <a:fgClr>
                <a:schemeClr val="accent1"/>
              </a:fgClr>
              <a:bgClr>
                <a:schemeClr val="lt1"/>
              </a:bgClr>
            </a:pattFill>
            <a:ln>
              <a:noFill/>
            </a:ln>
            <a:effectLst/>
          </c:spPr>
          <c:invertIfNegative val="0"/>
          <c:dLbls>
            <c:spPr>
              <a:solidFill>
                <a:schemeClr val="accent1">
                  <a:alpha val="7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Sheet1!$A$2:$A$14</c:f>
              <c:numCache>
                <c:formatCode>General</c:formatCode>
                <c:ptCount val="13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2.1767800000000001E-3</c:v>
                </c:pt>
                <c:pt idx="1">
                  <c:v>1.7414300000000001E-2</c:v>
                </c:pt>
                <c:pt idx="2">
                  <c:v>6.3852300000000001E-2</c:v>
                </c:pt>
                <c:pt idx="3">
                  <c:v>0.14189399999999999</c:v>
                </c:pt>
                <c:pt idx="4">
                  <c:v>0.212841</c:v>
                </c:pt>
                <c:pt idx="5">
                  <c:v>0.22703000000000001</c:v>
                </c:pt>
                <c:pt idx="6">
                  <c:v>0.17657900000000001</c:v>
                </c:pt>
                <c:pt idx="7">
                  <c:v>0.10090200000000001</c:v>
                </c:pt>
                <c:pt idx="8">
                  <c:v>4.2042700000000002E-2</c:v>
                </c:pt>
                <c:pt idx="9">
                  <c:v>1.24571E-2</c:v>
                </c:pt>
                <c:pt idx="10">
                  <c:v>2.4914199999999998E-3</c:v>
                </c:pt>
                <c:pt idx="11">
                  <c:v>3.0198999999999997E-4</c:v>
                </c:pt>
                <c:pt idx="12" formatCode="0.00E+00">
                  <c:v>1.6777199999999999E-5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C7-4E36-A22E-E7D0414D4C9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69"/>
        <c:overlap val="-20"/>
        <c:axId val="297576616"/>
        <c:axId val="297573664"/>
      </c:barChart>
      <c:catAx>
        <c:axId val="2975766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3175" cap="flat" cmpd="sng" algn="ctr">
            <a:solidFill>
              <a:schemeClr val="accent1">
                <a:lumMod val="60000"/>
                <a:lumOff val="4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5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7573664"/>
        <c:crosses val="autoZero"/>
        <c:auto val="1"/>
        <c:lblAlgn val="ctr"/>
        <c:lblOffset val="100"/>
        <c:noMultiLvlLbl val="0"/>
      </c:catAx>
      <c:valAx>
        <c:axId val="2975736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75766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accent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4">
  <cs:axisTitle>
    <cs:lnRef idx="0"/>
    <cs:fillRef idx="0"/>
    <cs:effectRef idx="0"/>
    <cs:fontRef idx="minor">
      <a:schemeClr val="lt1"/>
    </cs:fontRef>
    <cs:defRPr sz="1197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1064" kern="1200" cap="all" spc="150" normalizeH="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330" kern="1200"/>
  </cs:chartArea>
  <cs:dataLabel>
    <cs:lnRef idx="0"/>
    <cs:fillRef idx="0">
      <cs:styleClr val="auto"/>
    </cs:fillRef>
    <cs:effectRef idx="0"/>
    <cs:fontRef idx="minor">
      <a:schemeClr val="lt1"/>
    </cs:fontRef>
    <cs:spPr>
      <a:solidFill>
        <a:schemeClr val="phClr">
          <a:alpha val="70000"/>
        </a:schemeClr>
      </a:solidFill>
    </cs:spPr>
    <cs:defRPr sz="1197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1197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1197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995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1197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4">
  <cs:axisTitle>
    <cs:lnRef idx="0"/>
    <cs:fillRef idx="0"/>
    <cs:effectRef idx="0"/>
    <cs:fontRef idx="minor">
      <a:schemeClr val="lt1"/>
    </cs:fontRef>
    <cs:defRPr sz="1197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1064" kern="1200" cap="all" spc="150" normalizeH="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330" kern="1200"/>
  </cs:chartArea>
  <cs:dataLabel>
    <cs:lnRef idx="0"/>
    <cs:fillRef idx="0">
      <cs:styleClr val="auto"/>
    </cs:fillRef>
    <cs:effectRef idx="0"/>
    <cs:fontRef idx="minor">
      <a:schemeClr val="lt1"/>
    </cs:fontRef>
    <cs:spPr>
      <a:solidFill>
        <a:schemeClr val="phClr">
          <a:alpha val="70000"/>
        </a:schemeClr>
      </a:solidFill>
    </cs:spPr>
    <cs:defRPr sz="1197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1197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1197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995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1197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14">
  <cs:axisTitle>
    <cs:lnRef idx="0"/>
    <cs:fillRef idx="0"/>
    <cs:effectRef idx="0"/>
    <cs:fontRef idx="minor">
      <a:schemeClr val="lt1"/>
    </cs:fontRef>
    <cs:defRPr sz="1197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1064" kern="1200" cap="all" spc="150" normalizeH="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330" kern="1200"/>
  </cs:chartArea>
  <cs:dataLabel>
    <cs:lnRef idx="0"/>
    <cs:fillRef idx="0">
      <cs:styleClr val="auto"/>
    </cs:fillRef>
    <cs:effectRef idx="0"/>
    <cs:fontRef idx="minor">
      <a:schemeClr val="lt1"/>
    </cs:fontRef>
    <cs:spPr>
      <a:solidFill>
        <a:schemeClr val="phClr">
          <a:alpha val="70000"/>
        </a:schemeClr>
      </a:solidFill>
    </cs:spPr>
    <cs:defRPr sz="1197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1197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1197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995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1197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14">
  <cs:axisTitle>
    <cs:lnRef idx="0"/>
    <cs:fillRef idx="0"/>
    <cs:effectRef idx="0"/>
    <cs:fontRef idx="minor">
      <a:schemeClr val="lt1"/>
    </cs:fontRef>
    <cs:defRPr sz="1197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1064" kern="1200" cap="all" spc="150" normalizeH="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330" kern="1200"/>
  </cs:chartArea>
  <cs:dataLabel>
    <cs:lnRef idx="0"/>
    <cs:fillRef idx="0">
      <cs:styleClr val="auto"/>
    </cs:fillRef>
    <cs:effectRef idx="0"/>
    <cs:fontRef idx="minor">
      <a:schemeClr val="lt1"/>
    </cs:fontRef>
    <cs:spPr>
      <a:solidFill>
        <a:schemeClr val="phClr">
          <a:alpha val="70000"/>
        </a:schemeClr>
      </a:solidFill>
    </cs:spPr>
    <cs:defRPr sz="1197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1197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1197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995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1197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5F65-84A5-40B1-9A0F-623B78906ECD}" type="datetimeFigureOut">
              <a:rPr lang="en-US" smtClean="0"/>
              <a:t>5/20/2021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E174-963B-4EF0-A216-F9F1C4D24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783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5F65-84A5-40B1-9A0F-623B78906ECD}" type="datetimeFigureOut">
              <a:rPr lang="en-US" smtClean="0"/>
              <a:t>5/20/2021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E174-963B-4EF0-A216-F9F1C4D24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798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5F65-84A5-40B1-9A0F-623B78906ECD}" type="datetimeFigureOut">
              <a:rPr lang="en-US" smtClean="0"/>
              <a:t>5/20/2021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E174-963B-4EF0-A216-F9F1C4D24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140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5F65-84A5-40B1-9A0F-623B78906ECD}" type="datetimeFigureOut">
              <a:rPr lang="en-US" smtClean="0"/>
              <a:t>5/20/2021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E174-963B-4EF0-A216-F9F1C4D24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15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5F65-84A5-40B1-9A0F-623B78906ECD}" type="datetimeFigureOut">
              <a:rPr lang="en-US" smtClean="0"/>
              <a:t>5/20/2021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E174-963B-4EF0-A216-F9F1C4D24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749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5F65-84A5-40B1-9A0F-623B78906ECD}" type="datetimeFigureOut">
              <a:rPr lang="en-US" smtClean="0"/>
              <a:t>5/20/2021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E174-963B-4EF0-A216-F9F1C4D24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144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5F65-84A5-40B1-9A0F-623B78906ECD}" type="datetimeFigureOut">
              <a:rPr lang="en-US" smtClean="0"/>
              <a:t>5/20/2021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E174-963B-4EF0-A216-F9F1C4D24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392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5F65-84A5-40B1-9A0F-623B78906ECD}" type="datetimeFigureOut">
              <a:rPr lang="en-US" smtClean="0"/>
              <a:t>5/20/2021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E174-963B-4EF0-A216-F9F1C4D24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79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5F65-84A5-40B1-9A0F-623B78906ECD}" type="datetimeFigureOut">
              <a:rPr lang="en-US" smtClean="0"/>
              <a:t>5/20/2021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E174-963B-4EF0-A216-F9F1C4D24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112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5F65-84A5-40B1-9A0F-623B78906ECD}" type="datetimeFigureOut">
              <a:rPr lang="en-US" smtClean="0"/>
              <a:t>5/20/2021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E174-963B-4EF0-A216-F9F1C4D24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913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5F65-84A5-40B1-9A0F-623B78906ECD}" type="datetimeFigureOut">
              <a:rPr lang="en-US" smtClean="0"/>
              <a:t>5/20/2021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E174-963B-4EF0-A216-F9F1C4D24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105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5F65-84A5-40B1-9A0F-623B78906ECD}" type="datetimeFigureOut">
              <a:rPr lang="en-US" smtClean="0"/>
              <a:t>5/20/2021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E174-963B-4EF0-A216-F9F1C4D2452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05305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5F65-84A5-40B1-9A0F-623B78906ECD}" type="datetimeFigureOut">
              <a:rPr lang="en-US" smtClean="0"/>
              <a:t>5/20/2021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E174-963B-4EF0-A216-F9F1C4D24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1673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5F65-84A5-40B1-9A0F-623B78906ECD}" type="datetimeFigureOut">
              <a:rPr lang="en-US" smtClean="0"/>
              <a:t>5/20/2021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E174-963B-4EF0-A216-F9F1C4D24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7470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5F65-84A5-40B1-9A0F-623B78906ECD}" type="datetimeFigureOut">
              <a:rPr lang="en-US" smtClean="0"/>
              <a:t>5/20/2021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E174-963B-4EF0-A216-F9F1C4D24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7531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5F65-84A5-40B1-9A0F-623B78906ECD}" type="datetimeFigureOut">
              <a:rPr lang="en-US" smtClean="0"/>
              <a:t>5/20/2021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E174-963B-4EF0-A216-F9F1C4D24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0968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5F65-84A5-40B1-9A0F-623B78906ECD}" type="datetimeFigureOut">
              <a:rPr lang="en-US" smtClean="0"/>
              <a:t>5/20/2021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4E174-963B-4EF0-A216-F9F1C4D24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851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4A45F65-84A5-40B1-9A0F-623B78906ECD}" type="datetimeFigureOut">
              <a:rPr lang="en-US" smtClean="0"/>
              <a:t>5/20/2021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4E174-963B-4EF0-A216-F9F1C4D24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5071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B0F7F-B114-4C28-80A7-E4367A22A5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0425" y="765111"/>
            <a:ext cx="8714792" cy="2197254"/>
          </a:xfrm>
        </p:spPr>
        <p:txBody>
          <a:bodyPr/>
          <a:lstStyle/>
          <a:p>
            <a:r>
              <a:rPr lang="sr-Latn-RS" b="1" dirty="0">
                <a:solidFill>
                  <a:schemeClr val="bg1"/>
                </a:solidFill>
              </a:rPr>
              <a:t>Zadatak 7</a:t>
            </a:r>
            <a:br>
              <a:rPr lang="sr-Latn-RS" b="1" dirty="0">
                <a:solidFill>
                  <a:schemeClr val="bg1"/>
                </a:solidFill>
              </a:rPr>
            </a:br>
            <a:r>
              <a:rPr lang="sr-Latn-RS" b="1" dirty="0">
                <a:solidFill>
                  <a:schemeClr val="bg1"/>
                </a:solidFill>
              </a:rPr>
              <a:t>Bernulijevi opiti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1489B7-DFFF-40B6-A07C-4AAAE18B6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189445"/>
            <a:ext cx="10396343" cy="1530220"/>
          </a:xfrm>
        </p:spPr>
        <p:txBody>
          <a:bodyPr>
            <a:noAutofit/>
          </a:bodyPr>
          <a:lstStyle/>
          <a:p>
            <a:r>
              <a:rPr lang="en-US" sz="2800" dirty="0"/>
              <a:t>LVISR7 </a:t>
            </a:r>
            <a:endParaRPr lang="sr-Latn-RS" sz="2800" dirty="0"/>
          </a:p>
          <a:p>
            <a:r>
              <a:rPr lang="en-US" sz="2800" dirty="0" err="1"/>
              <a:t>Pečeničić</a:t>
            </a:r>
            <a:r>
              <a:rPr lang="en-US" sz="2800" dirty="0"/>
              <a:t> Nikola </a:t>
            </a:r>
            <a:endParaRPr lang="sr-Latn-RS" sz="2800" dirty="0"/>
          </a:p>
          <a:p>
            <a:r>
              <a:rPr lang="sr-Latn-RS" sz="2800" dirty="0"/>
              <a:t>0</a:t>
            </a:r>
            <a:r>
              <a:rPr lang="en-US" sz="2800" dirty="0"/>
              <a:t>537</a:t>
            </a:r>
            <a:r>
              <a:rPr lang="sr-Latn-RS" sz="2800" dirty="0"/>
              <a:t>/20</a:t>
            </a:r>
            <a:r>
              <a:rPr lang="en-US" sz="2800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762932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6178B-CDCD-4FD4-AEE9-8255E5DCB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472" y="2869347"/>
            <a:ext cx="11353056" cy="1400530"/>
          </a:xfrm>
        </p:spPr>
        <p:txBody>
          <a:bodyPr/>
          <a:lstStyle/>
          <a:p>
            <a:r>
              <a:rPr lang="sr-Latn-RS" dirty="0"/>
              <a:t>Zadatak rađen u programskom jeziku C++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597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E88A9-2A9C-4440-99CD-0E47C2B80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343" y="491923"/>
            <a:ext cx="5092906" cy="693065"/>
          </a:xfrm>
        </p:spPr>
        <p:txBody>
          <a:bodyPr/>
          <a:lstStyle/>
          <a:p>
            <a:r>
              <a:rPr lang="sr-Latn-RS" b="1" dirty="0">
                <a:solidFill>
                  <a:schemeClr val="bg1"/>
                </a:solidFill>
              </a:rPr>
              <a:t>Algoritam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5DC4FD-2EB8-4613-9570-A9FF8DC8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9343" y="1315617"/>
            <a:ext cx="5296657" cy="4861248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sr-Latn-RS" sz="2000" b="1" dirty="0"/>
              <a:t>Prva for-petlja </a:t>
            </a:r>
            <a:r>
              <a:rPr lang="sr-Latn-RS" sz="2000" dirty="0"/>
              <a:t>inicijalizuje sve članove niza </a:t>
            </a:r>
            <a:r>
              <a:rPr lang="sr-Latn-RS" sz="2000" b="1" dirty="0"/>
              <a:t>vek</a:t>
            </a:r>
            <a:r>
              <a:rPr lang="sr-Latn-RS" sz="2000" dirty="0"/>
              <a:t> na vrednost 0</a:t>
            </a:r>
            <a:endParaRPr lang="sr-Latn-RS" sz="2000" b="1" dirty="0"/>
          </a:p>
          <a:p>
            <a:pPr>
              <a:buFont typeface="Wingdings" pitchFamily="2" charset="2"/>
              <a:buChar char="Ø"/>
            </a:pPr>
            <a:r>
              <a:rPr lang="en-US" sz="2000" b="1" dirty="0" err="1"/>
              <a:t>Spolj</a:t>
            </a:r>
            <a:r>
              <a:rPr lang="sr-Latn-RS" sz="2000" b="1" dirty="0"/>
              <a:t>ašnja for-petlja </a:t>
            </a:r>
            <a:r>
              <a:rPr lang="sr-Latn-RS" sz="2000" dirty="0"/>
              <a:t>na osnovu broja uspeha u iteraciji, inkrementira član niza koji ima navedeni indeks</a:t>
            </a:r>
          </a:p>
          <a:p>
            <a:pPr>
              <a:buFont typeface="Wingdings" pitchFamily="2" charset="2"/>
              <a:buChar char="Ø"/>
            </a:pPr>
            <a:r>
              <a:rPr lang="sr-Latn-RS" sz="2000" b="1" dirty="0"/>
              <a:t>Unutrašnja for-petlja  </a:t>
            </a:r>
            <a:r>
              <a:rPr lang="sr-Latn-RS" sz="2000" dirty="0"/>
              <a:t>broji koliko se puta desio uspeh u pojedinačnoj iteraciji od n eksperimenata</a:t>
            </a:r>
          </a:p>
          <a:p>
            <a:pPr>
              <a:buFont typeface="Wingdings" pitchFamily="2" charset="2"/>
              <a:buChar char="Ø"/>
            </a:pPr>
            <a:r>
              <a:rPr lang="sr-Latn-RS" sz="1400" b="1" dirty="0"/>
              <a:t>  </a:t>
            </a:r>
            <a:r>
              <a:rPr lang="sr-Latn-RS" sz="2000" dirty="0"/>
              <a:t>pomoću RAND_MAX vriši se generisanje slučajnog realnog broja iz intervalu </a:t>
            </a:r>
            <a:r>
              <a:rPr lang="en-US" sz="2000" dirty="0"/>
              <a:t>[0,1]</a:t>
            </a:r>
            <a:endParaRPr lang="sr-Latn-RS" sz="2000" dirty="0"/>
          </a:p>
          <a:p>
            <a:pPr>
              <a:buFont typeface="Wingdings" pitchFamily="2" charset="2"/>
              <a:buChar char="Ø"/>
            </a:pPr>
            <a:endParaRPr lang="sr-Latn-RS" sz="1400" dirty="0"/>
          </a:p>
          <a:p>
            <a:endParaRPr lang="sr-Latn-RS" sz="1400" dirty="0"/>
          </a:p>
          <a:p>
            <a:pPr>
              <a:buFont typeface="Wingdings" pitchFamily="2" charset="2"/>
              <a:buChar char="Ø"/>
            </a:pPr>
            <a:r>
              <a:rPr lang="en-US" sz="2000" b="1" dirty="0" err="1"/>
              <a:t>vektor</a:t>
            </a:r>
            <a:r>
              <a:rPr lang="en-US" sz="2000" dirty="0"/>
              <a:t> </a:t>
            </a:r>
            <a:r>
              <a:rPr lang="sr-Latn-RS" sz="2000" dirty="0"/>
              <a:t> je</a:t>
            </a:r>
            <a:r>
              <a:rPr lang="en-US" sz="2000" dirty="0"/>
              <a:t> </a:t>
            </a:r>
            <a:r>
              <a:rPr lang="en-US" sz="2000" dirty="0" err="1"/>
              <a:t>niz</a:t>
            </a:r>
            <a:r>
              <a:rPr lang="en-US" sz="2000" dirty="0"/>
              <a:t> </a:t>
            </a:r>
            <a:r>
              <a:rPr lang="en-US" sz="2000" dirty="0" err="1"/>
              <a:t>relativnih</a:t>
            </a:r>
            <a:r>
              <a:rPr lang="en-US" sz="2000" dirty="0"/>
              <a:t> </a:t>
            </a:r>
            <a:r>
              <a:rPr lang="en-US" sz="2000" dirty="0" err="1"/>
              <a:t>frekvencija</a:t>
            </a:r>
            <a:r>
              <a:rPr lang="en-US" sz="2000" dirty="0"/>
              <a:t> </a:t>
            </a:r>
            <a:r>
              <a:rPr lang="en-US" sz="2000" dirty="0" err="1"/>
              <a:t>uspeha</a:t>
            </a:r>
            <a:r>
              <a:rPr lang="sr-Latn-RS" sz="2000" dirty="0"/>
              <a:t> i važi:</a:t>
            </a:r>
          </a:p>
          <a:p>
            <a:r>
              <a:rPr lang="sr-Latn-RS" sz="2000" dirty="0"/>
              <a:t> </a:t>
            </a:r>
            <a:r>
              <a:rPr lang="sr-Latn-RS" sz="2000" b="1" dirty="0"/>
              <a:t>P(X</a:t>
            </a:r>
            <a:r>
              <a:rPr lang="en-US" sz="2000" b="1" dirty="0"/>
              <a:t> </a:t>
            </a:r>
            <a:r>
              <a:rPr lang="sr-Latn-RS" sz="2000" b="1" dirty="0"/>
              <a:t>=</a:t>
            </a:r>
            <a:r>
              <a:rPr lang="en-US" sz="2000" b="1" dirty="0"/>
              <a:t> </a:t>
            </a:r>
            <a:r>
              <a:rPr lang="sr-Latn-RS" sz="2000" b="1" dirty="0"/>
              <a:t>k)</a:t>
            </a:r>
            <a:r>
              <a:rPr lang="en-US" sz="2000" b="1" dirty="0"/>
              <a:t> </a:t>
            </a:r>
            <a:r>
              <a:rPr lang="sr-Latn-RS" sz="2000" b="1" dirty="0"/>
              <a:t>=</a:t>
            </a:r>
            <a:r>
              <a:rPr lang="en-US" sz="2000" b="1" dirty="0"/>
              <a:t> </a:t>
            </a:r>
            <a:r>
              <a:rPr lang="sr-Latn-RS" sz="2000" b="1" dirty="0"/>
              <a:t>ve</a:t>
            </a:r>
            <a:r>
              <a:rPr lang="en-US" sz="2000" b="1" dirty="0"/>
              <a:t>k</a:t>
            </a:r>
            <a:r>
              <a:rPr lang="sr-Latn-RS" sz="2000" b="1" dirty="0"/>
              <a:t>tor</a:t>
            </a:r>
            <a:r>
              <a:rPr lang="en-US" sz="2000" b="1" dirty="0"/>
              <a:t>[k]</a:t>
            </a:r>
            <a:endParaRPr lang="sr-Latn-RS" sz="2000" b="1" dirty="0"/>
          </a:p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51AF988-B2DC-450D-96B0-0EA67260C2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6477" y="1474237"/>
            <a:ext cx="4604490" cy="23693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E28AF27-6C6C-4C40-806F-195391D460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6477" y="5057191"/>
            <a:ext cx="4604490" cy="122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740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21704-31D1-47B8-80BD-9849D6D93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13" y="622551"/>
            <a:ext cx="6811347" cy="795702"/>
          </a:xfrm>
        </p:spPr>
        <p:txBody>
          <a:bodyPr/>
          <a:lstStyle/>
          <a:p>
            <a:r>
              <a:rPr lang="en-US" b="1" dirty="0" err="1">
                <a:solidFill>
                  <a:schemeClr val="bg1"/>
                </a:solidFill>
              </a:rPr>
              <a:t>Zakon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raspodele</a:t>
            </a:r>
            <a:r>
              <a:rPr lang="sr-Latn-R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X~</a:t>
            </a:r>
            <a:r>
              <a:rPr lang="en-US" b="1" i="1" dirty="0" err="1">
                <a:solidFill>
                  <a:schemeClr val="bg1"/>
                </a:solidFill>
              </a:rPr>
              <a:t>Bin</a:t>
            </a:r>
            <a:r>
              <a:rPr lang="en-US" b="1" i="1" dirty="0">
                <a:solidFill>
                  <a:schemeClr val="bg1"/>
                </a:solidFill>
              </a:rPr>
              <a:t>(</a:t>
            </a:r>
            <a:r>
              <a:rPr lang="sr-Latn-RS" b="1" i="1" dirty="0">
                <a:solidFill>
                  <a:schemeClr val="bg1"/>
                </a:solidFill>
              </a:rPr>
              <a:t>n</a:t>
            </a:r>
            <a:r>
              <a:rPr lang="en-US" b="1" i="1" dirty="0">
                <a:solidFill>
                  <a:schemeClr val="bg1"/>
                </a:solidFill>
              </a:rPr>
              <a:t>,</a:t>
            </a:r>
            <a:r>
              <a:rPr lang="sr-Latn-RS" b="1" i="1" dirty="0">
                <a:solidFill>
                  <a:schemeClr val="bg1"/>
                </a:solidFill>
              </a:rPr>
              <a:t>p</a:t>
            </a:r>
            <a:r>
              <a:rPr lang="en-US" b="1" i="1" dirty="0">
                <a:solidFill>
                  <a:schemeClr val="bg1"/>
                </a:solidFill>
              </a:rPr>
              <a:t>)</a:t>
            </a:r>
            <a:endParaRPr lang="en-US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9A70CC1-6819-4099-9EDF-973E8CF250EA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653144" y="1586204"/>
                <a:ext cx="5586790" cy="4516016"/>
              </a:xfrm>
            </p:spPr>
            <p:txBody>
              <a:bodyPr>
                <a:normAutofit/>
              </a:bodyPr>
              <a:lstStyle/>
              <a:p>
                <a:pPr algn="ctr"/>
                <a:endParaRPr lang="sr-Latn-RS" sz="2000" i="1" dirty="0"/>
              </a:p>
              <a:p>
                <a:r>
                  <a:rPr lang="sr-Latn-RS" sz="2000" dirty="0"/>
                  <a:t>Ova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funkcija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vra</a:t>
                </a:r>
                <a:r>
                  <a:rPr lang="sr-Latn-RS" sz="2000" dirty="0"/>
                  <a:t>ća niz dužine n+1, u kome se na k-tom mestu nalazi teoretska vrednost </a:t>
                </a:r>
              </a:p>
              <a:p>
                <a:pPr algn="ctr"/>
                <a:endParaRPr lang="sr-Latn-RS" sz="2000" b="1" dirty="0"/>
              </a:p>
              <a:p>
                <a:pPr algn="ctr"/>
                <a:endParaRPr lang="sr-Latn-RS" sz="2000" b="1" dirty="0"/>
              </a:p>
              <a:p>
                <a:r>
                  <a:rPr lang="sr-Latn-RS" sz="2000" b="1" dirty="0"/>
                  <a:t>P (X = k)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t-BR" sz="20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0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pt-BR" sz="20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den>
                        </m:f>
                      </m:e>
                    </m:d>
                  </m:oMath>
                </a14:m>
                <a:r>
                  <a:rPr lang="pt-BR" sz="20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r-Latn-RS" sz="20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pt-BR" sz="2000" b="1" i="1"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</m:oMath>
                </a14:m>
                <a:r>
                  <a:rPr lang="pt-BR" sz="20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r-Latn-RS" sz="20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sr-Latn-RS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sr-Latn-RS" sz="20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sr-Latn-RS" sz="20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sr-Latn-RS" sz="20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sr-Latn-RS" sz="20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sr-Latn-RS" sz="20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000" b="1" i="1">
                            <a:latin typeface="Cambria Math" panose="02040503050406030204" pitchFamily="18" charset="0"/>
                          </a:rPr>
                          <m:t>𝒌</m:t>
                        </m:r>
                      </m:sup>
                    </m:sSup>
                  </m:oMath>
                </a14:m>
                <a:endParaRPr lang="sr-Latn-RS" sz="2000" b="1" dirty="0"/>
              </a:p>
              <a:p>
                <a:endParaRPr lang="sr-Latn-RS" sz="2000" b="1" dirty="0"/>
              </a:p>
              <a:p>
                <a:endParaRPr lang="sr-Latn-RS" sz="2000" dirty="0"/>
              </a:p>
              <a:p>
                <a:r>
                  <a:rPr lang="sr-Latn-RS" sz="2000" dirty="0"/>
                  <a:t>Pri računanju korišćeno: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t-BR" sz="20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0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pt-BR" sz="20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sr-Latn-RS" sz="20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sr-Latn-RS" sz="20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den>
                        </m:f>
                      </m:e>
                    </m:d>
                  </m:oMath>
                </a14:m>
                <a:r>
                  <a:rPr lang="pt-BR" sz="2000" b="1" dirty="0"/>
                  <a:t> </a:t>
                </a:r>
                <a:r>
                  <a:rPr lang="sr-Latn-RS" sz="2000" b="1" dirty="0"/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pt-BR" sz="20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0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num>
                          <m:den>
                            <m:r>
                              <a:rPr lang="pt-BR" sz="20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den>
                        </m:f>
                      </m:e>
                    </m:d>
                    <m:r>
                      <a:rPr lang="sr-Latn-RS" sz="2000" b="1" i="1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pt-BR" sz="2000" b="1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20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r-Latn-RS" sz="20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sr-Latn-RS" sz="20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sr-Latn-RS" sz="20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num>
                      <m:den>
                        <m:r>
                          <a:rPr lang="sr-Latn-RS" sz="20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sr-Latn-RS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sr-Latn-RS" sz="20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den>
                    </m:f>
                  </m:oMath>
                </a14:m>
                <a:endParaRPr lang="sr-Latn-RS" sz="2000" b="1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9A70CC1-6819-4099-9EDF-973E8CF250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653144" y="1586204"/>
                <a:ext cx="5586790" cy="4516016"/>
              </a:xfrm>
              <a:blipFill>
                <a:blip r:embed="rId2"/>
                <a:stretch>
                  <a:fillRect l="-1091" r="-18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62386189-23D7-4C83-8A24-52AD418CB2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952" y="2071395"/>
            <a:ext cx="5586790" cy="3557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409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CBB8E-CE76-4AE8-9689-6FEF5EA7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028" y="522514"/>
            <a:ext cx="9566967" cy="620486"/>
          </a:xfrm>
        </p:spPr>
        <p:txBody>
          <a:bodyPr>
            <a:normAutofit fontScale="90000"/>
          </a:bodyPr>
          <a:lstStyle/>
          <a:p>
            <a:r>
              <a:rPr lang="sr-Latn-RS" b="1" dirty="0">
                <a:solidFill>
                  <a:schemeClr val="bg1"/>
                </a:solidFill>
              </a:rPr>
              <a:t>Unete vrednosti: n=12, p=0.4, N=100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12FFA-237D-4008-ADEF-C3200F32C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4028" y="2743200"/>
            <a:ext cx="2120091" cy="429208"/>
          </a:xfrm>
        </p:spPr>
        <p:txBody>
          <a:bodyPr>
            <a:normAutofit/>
          </a:bodyPr>
          <a:lstStyle/>
          <a:p>
            <a:r>
              <a:rPr lang="sr-Latn-RS" sz="2000" dirty="0"/>
              <a:t>Ispis programa:</a:t>
            </a: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2F5E20-85C1-4A6B-9563-DCEB408B02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028" y="3429000"/>
            <a:ext cx="10960686" cy="264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000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54970747-9D69-47EC-A33B-5AA591EF1D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4363648"/>
              </p:ext>
            </p:extLst>
          </p:nvPr>
        </p:nvGraphicFramePr>
        <p:xfrm>
          <a:off x="125378" y="136008"/>
          <a:ext cx="6401881" cy="3083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35255F61-A5FF-4963-A8E1-4ED2C83E8A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110559"/>
              </p:ext>
            </p:extLst>
          </p:nvPr>
        </p:nvGraphicFramePr>
        <p:xfrm>
          <a:off x="125377" y="3429000"/>
          <a:ext cx="6401881" cy="3083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2CCA80-9EE1-473B-B855-55A6531663D0}"/>
                  </a:ext>
                </a:extLst>
              </p:cNvPr>
              <p:cNvSpPr txBox="1"/>
              <p:nvPr/>
            </p:nvSpPr>
            <p:spPr>
              <a:xfrm>
                <a:off x="6877456" y="1994170"/>
                <a:ext cx="4912469" cy="40010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r-Latn-RS" sz="2000" dirty="0"/>
                  <a:t>Sa</a:t>
                </a:r>
                <a:r>
                  <a:rPr lang="sr-Latn-RS" dirty="0"/>
                  <a:t> grafikona uočavamo da su dobijene vrednosti slične teoretskim vrednostima verovatnoća. </a:t>
                </a:r>
              </a:p>
              <a:p>
                <a:endParaRPr lang="sr-Latn-RS" dirty="0"/>
              </a:p>
              <a:p>
                <a:r>
                  <a:rPr lang="sr-Latn-RS" dirty="0"/>
                  <a:t>Npr. za </a:t>
                </a:r>
                <a14:m>
                  <m:oMath xmlns:m="http://schemas.openxmlformats.org/officeDocument/2006/math">
                    <m:r>
                      <a:rPr lang="sr-Latn-R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sr-Latn-R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11,12</m:t>
                        </m:r>
                      </m:e>
                    </m:d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 s</a:t>
                </a:r>
                <a:r>
                  <a:rPr lang="sr-Latn-RS" b="0" dirty="0">
                    <a:ea typeface="Cambria Math" panose="02040503050406030204" pitchFamily="18" charset="0"/>
                  </a:rPr>
                  <a:t>mo i očekivali da se, od 100 ponavljanja, dati događaji ne dese nijednom, jer teoretski će se dogoditi 0.000302 i 0.000017 puta od 100, što je dosta manje od jedan.</a:t>
                </a:r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sr-Latn-RS" dirty="0"/>
              </a:p>
              <a:p>
                <a:r>
                  <a:rPr lang="sr-Latn-RS" dirty="0"/>
                  <a:t>Međutim, za 100 ponavljanja je i dalje mali broj u odnosu na </a:t>
                </a:r>
                <a14:m>
                  <m:oMath xmlns:m="http://schemas.openxmlformats.org/officeDocument/2006/math">
                    <m:r>
                      <a:rPr lang="sr-Latn-R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sr-Latn-RS" dirty="0"/>
                  <a:t>, pa su razlike između dobijenog i stvarnog zakona raspodele i dalje vrlo vidljive.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2CCA80-9EE1-473B-B855-55A653166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7456" y="1994170"/>
                <a:ext cx="4912469" cy="4001095"/>
              </a:xfrm>
              <a:prstGeom prst="rect">
                <a:avLst/>
              </a:prstGeom>
              <a:blipFill>
                <a:blip r:embed="rId4"/>
                <a:stretch>
                  <a:fillRect l="-1241" t="-762" r="-1985" b="-1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733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47C40-3A00-4DC9-AE06-42BF8C4F0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723" y="554981"/>
            <a:ext cx="8825657" cy="665238"/>
          </a:xfrm>
        </p:spPr>
        <p:txBody>
          <a:bodyPr/>
          <a:lstStyle/>
          <a:p>
            <a:r>
              <a:rPr lang="sr-Latn-RS" sz="3200" b="1" dirty="0">
                <a:solidFill>
                  <a:schemeClr val="bg1"/>
                </a:solidFill>
              </a:rPr>
              <a:t>Unete vrednosti: n=12, p=0.4, N=1000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7D7C4F-C95F-4C97-84F4-27ACC165699C}"/>
              </a:ext>
            </a:extLst>
          </p:cNvPr>
          <p:cNvSpPr txBox="1"/>
          <p:nvPr/>
        </p:nvSpPr>
        <p:spPr>
          <a:xfrm>
            <a:off x="895739" y="2915044"/>
            <a:ext cx="4674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000" dirty="0"/>
              <a:t>Ispis programa:</a:t>
            </a:r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ABFE4D-497C-446D-825D-1C51309E7F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739" y="3542847"/>
            <a:ext cx="10148166" cy="257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633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B6CB1AEC-0917-4334-BBC0-6CB4B781FD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4783947"/>
              </p:ext>
            </p:extLst>
          </p:nvPr>
        </p:nvGraphicFramePr>
        <p:xfrm>
          <a:off x="125378" y="136008"/>
          <a:ext cx="6401881" cy="3083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417BD48-6847-43D2-8E1B-33ED16B6FC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2687184"/>
              </p:ext>
            </p:extLst>
          </p:nvPr>
        </p:nvGraphicFramePr>
        <p:xfrm>
          <a:off x="125377" y="3429000"/>
          <a:ext cx="6401881" cy="3083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B8B34DA-B726-413A-832F-2A30499EE11B}"/>
              </a:ext>
            </a:extLst>
          </p:cNvPr>
          <p:cNvSpPr txBox="1"/>
          <p:nvPr/>
        </p:nvSpPr>
        <p:spPr>
          <a:xfrm>
            <a:off x="6896911" y="2462693"/>
            <a:ext cx="494165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dirty="0"/>
              <a:t>Sa ovog grafikona vidimo, da se već za N=1000 dobijeni i stvarni zakon raspodele skoro poklapaju.</a:t>
            </a:r>
          </a:p>
          <a:p>
            <a:endParaRPr lang="sr-Latn-RS" dirty="0"/>
          </a:p>
          <a:p>
            <a:r>
              <a:rPr lang="sr-Latn-RS" b="1" dirty="0"/>
              <a:t>ZAKLJUČAK: n</a:t>
            </a:r>
            <a:r>
              <a:rPr lang="en-US" b="1" dirty="0"/>
              <a:t>a </a:t>
            </a:r>
            <a:r>
              <a:rPr lang="en-US" b="1" dirty="0" err="1"/>
              <a:t>osnovu</a:t>
            </a:r>
            <a:r>
              <a:rPr lang="en-US" b="1" dirty="0"/>
              <a:t> </a:t>
            </a:r>
            <a:r>
              <a:rPr lang="en-US" b="1" dirty="0" err="1"/>
              <a:t>ovih</a:t>
            </a:r>
            <a:r>
              <a:rPr lang="en-US" b="1" dirty="0"/>
              <a:t> </a:t>
            </a:r>
            <a:r>
              <a:rPr lang="en-US" b="1" dirty="0" err="1"/>
              <a:t>rezultata</a:t>
            </a:r>
            <a:r>
              <a:rPr lang="en-US" b="1" dirty="0"/>
              <a:t> </a:t>
            </a:r>
            <a:r>
              <a:rPr lang="en-US" b="1" dirty="0" err="1"/>
              <a:t>vidimo</a:t>
            </a:r>
            <a:r>
              <a:rPr lang="en-US" b="1" dirty="0"/>
              <a:t> da, </a:t>
            </a:r>
            <a:r>
              <a:rPr lang="sr-Latn-RS" b="1" dirty="0"/>
              <a:t>što je broj ponavljanja eksperimenta veći, to je zakon raspodele sve bliži i bliži stvarnom zakonu raspodele!</a:t>
            </a:r>
          </a:p>
          <a:p>
            <a:endParaRPr lang="sr-Latn-RS" b="1" dirty="0"/>
          </a:p>
          <a:p>
            <a:r>
              <a:rPr lang="sr-Latn-RS" dirty="0"/>
              <a:t>N</a:t>
            </a:r>
            <a:r>
              <a:rPr lang="sr-Latn-RS" sz="1800" dirty="0"/>
              <a:t>a sledećem slajdu ćemo uporediti raspodele za jos veće N i videti kako su tada vrednosti sve sličnije.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21532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38F93-E5D2-41C9-8F33-B1F4791D5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17" y="396736"/>
            <a:ext cx="10653260" cy="657625"/>
          </a:xfrm>
        </p:spPr>
        <p:txBody>
          <a:bodyPr/>
          <a:lstStyle/>
          <a:p>
            <a:r>
              <a:rPr lang="sr-Latn-RS" sz="2800" b="1" dirty="0">
                <a:solidFill>
                  <a:schemeClr val="bg1"/>
                </a:solidFill>
              </a:rPr>
              <a:t>Pratimo promene u slučajevima: n=12, p=0.4, N&gt;1000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31B89C-85D2-4B55-8A21-02242E82D3F9}"/>
              </a:ext>
            </a:extLst>
          </p:cNvPr>
          <p:cNvSpPr txBox="1"/>
          <p:nvPr/>
        </p:nvSpPr>
        <p:spPr>
          <a:xfrm>
            <a:off x="349492" y="1196571"/>
            <a:ext cx="1339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000" dirty="0"/>
              <a:t>N=10 000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03A73F-BBCF-4D49-9A13-502A1EF930A9}"/>
              </a:ext>
            </a:extLst>
          </p:cNvPr>
          <p:cNvSpPr txBox="1"/>
          <p:nvPr/>
        </p:nvSpPr>
        <p:spPr>
          <a:xfrm>
            <a:off x="349492" y="3033555"/>
            <a:ext cx="15446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000" dirty="0"/>
              <a:t>N=100 000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FD0A4D-41A9-4E18-8ACF-D30ED472702F}"/>
              </a:ext>
            </a:extLst>
          </p:cNvPr>
          <p:cNvSpPr txBox="1"/>
          <p:nvPr/>
        </p:nvSpPr>
        <p:spPr>
          <a:xfrm>
            <a:off x="349492" y="4870539"/>
            <a:ext cx="16752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RS" sz="2000" dirty="0"/>
              <a:t>N=1 000 000</a:t>
            </a:r>
            <a:endParaRPr lang="en-US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2D1BA9C-8AFD-47FD-AE2C-F912597EE1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741" y="1263298"/>
            <a:ext cx="9771112" cy="16940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C56F34B-1AA1-4124-AA45-94EC56CEE7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741" y="3109959"/>
            <a:ext cx="9771112" cy="169402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C2C4C12-7B93-4188-91EC-82339D3A2E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741" y="4956621"/>
            <a:ext cx="9771112" cy="176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3354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232</TotalTime>
  <Words>379</Words>
  <Application>Microsoft Office PowerPoint</Application>
  <PresentationFormat>Widescreen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Cambria Math</vt:lpstr>
      <vt:lpstr>Century Gothic</vt:lpstr>
      <vt:lpstr>Wingdings</vt:lpstr>
      <vt:lpstr>Wingdings 3</vt:lpstr>
      <vt:lpstr>Ion</vt:lpstr>
      <vt:lpstr>Zadatak 7 Bernulijevi opiti</vt:lpstr>
      <vt:lpstr>Zadatak rađen u programskom jeziku C++</vt:lpstr>
      <vt:lpstr>Algoritam</vt:lpstr>
      <vt:lpstr>Zakon raspodele X~Bin(n,p)</vt:lpstr>
      <vt:lpstr>Unete vrednosti: n=12, p=0.4, N=100</vt:lpstr>
      <vt:lpstr>PowerPoint Presentation</vt:lpstr>
      <vt:lpstr>Unete vrednosti: n=12, p=0.4, N=1000</vt:lpstr>
      <vt:lpstr>PowerPoint Presentation</vt:lpstr>
      <vt:lpstr>Pratimo promene u slučajevima: n=12, p=0.4, N&gt;1000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Zadatak 7 Bernulijevi opiti</dc:title>
  <dc:creator> </dc:creator>
  <cp:lastModifiedBy> </cp:lastModifiedBy>
  <cp:revision>13</cp:revision>
  <dcterms:created xsi:type="dcterms:W3CDTF">2021-05-20T19:46:03Z</dcterms:created>
  <dcterms:modified xsi:type="dcterms:W3CDTF">2021-05-20T23:38:55Z</dcterms:modified>
</cp:coreProperties>
</file>